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6"/>
      <p:bold r:id="rId27"/>
      <p:italic r:id="rId28"/>
      <p:boldItalic r:id="rId29"/>
    </p:embeddedFont>
    <p:embeddedFont>
      <p:font typeface="Economica" panose="02000506040000020004" pitchFamily="2" charset="77"/>
      <p:regular r:id="rId30"/>
      <p:bold r:id="rId31"/>
      <p:italic r:id="rId32"/>
      <p:boldItalic r:id="rId33"/>
    </p:embeddedFont>
    <p:embeddedFont>
      <p:font typeface="Open Sans" panose="020B0606030504020204" pitchFamily="34" charset="0"/>
      <p:regular r:id="rId34"/>
      <p:bold r:id="rId35"/>
      <p:italic r:id="rId36"/>
      <p:boldItalic r:id="rId37"/>
    </p:embeddedFont>
    <p:embeddedFont>
      <p:font typeface="Roboto Mono" pitchFamily="49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5" roundtripDataSignature="AMtx7mi3OZ8WEUlJ2osZFgVKgyiakWNm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9CABD2B-2609-4350-AB3E-B51E3FE340C1}">
  <a:tblStyle styleId="{29CABD2B-2609-4350-AB3E-B51E3FE340C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2"/>
    <p:restoredTop sz="94733"/>
  </p:normalViewPr>
  <p:slideViewPr>
    <p:cSldViewPr snapToGrid="0">
      <p:cViewPr varScale="1">
        <p:scale>
          <a:sx n="169" d="100"/>
          <a:sy n="169" d="100"/>
        </p:scale>
        <p:origin x="416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eaf905e7ec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eaf905e7ec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eaf905e7ec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eaf905e7ec_2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eaf905e7ec_2_41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geaf905e7ec_2_41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geaf905e7ec_2_41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geaf905e7ec_2_41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geaf905e7ec_2_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eaf905e7ec_2_47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geaf905e7ec_2_47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geaf905e7ec_2_47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eaf905e7ec_2_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eaf905e7ec_2_52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geaf905e7ec_2_52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eaf905e7ec_2_52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geaf905e7ec_2_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eaf905e7ec_2_57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eaf905e7ec_2_57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geaf905e7ec_2_57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geaf905e7ec_2_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eaf905e7ec_2_62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geaf905e7ec_2_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eaf905e7ec_2_6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geaf905e7ec_2_65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eaf905e7ec_2_6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eaf905e7ec_2_69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geaf905e7ec_2_6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geaf905e7ec_2_6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af905e7ec_2_73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geaf905e7ec_2_73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geaf905e7ec_2_73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geaf905e7ec_2_73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geaf905e7ec_2_73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geaf905e7ec_2_7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eaf905e7ec_2_8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geaf905e7ec_2_8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eaf905e7ec_2_8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geaf905e7ec_2_83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geaf905e7ec_2_83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geaf905e7ec_2_8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eaf905e7ec_2_8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eaf905e7ec_2_37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geaf905e7ec_2_37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geaf905e7ec_2_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Data Science Ecosystem</a:t>
            </a:r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718E3-222A-F641-BEEF-DB86DCF241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Blend of various principles from Algorithms, Software Engineering, Programming, Algebra, Calculus, Statistics and Probability with the goal to discover hidden patterns from the raw data that is relevant to a given </a:t>
            </a:r>
            <a:r>
              <a:rPr lang="en" b="1"/>
              <a:t>objective function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/>
          </a:p>
        </p:txBody>
      </p:sp>
      <p:sp>
        <p:nvSpPr>
          <p:cNvPr id="69" name="Google Shape;69;p2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What is Data Science</a:t>
            </a:r>
            <a:endParaRPr/>
          </a:p>
        </p:txBody>
      </p:sp>
      <p:pic>
        <p:nvPicPr>
          <p:cNvPr id="70" name="Google Shape;7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97825" y="2571749"/>
            <a:ext cx="2348351" cy="212837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 txBox="1">
            <a:spLocks noGrp="1"/>
          </p:cNvSpPr>
          <p:nvPr>
            <p:ph type="title"/>
          </p:nvPr>
        </p:nvSpPr>
        <p:spPr>
          <a:xfrm>
            <a:off x="1119550" y="4961300"/>
            <a:ext cx="3316500" cy="1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600"/>
              <a:t>https://towardsdatascience.com/introduction-to-statistics-e9d72d818745</a:t>
            </a:r>
            <a:endParaRPr sz="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CRISP-DM* reference model</a:t>
            </a:r>
            <a:endParaRPr/>
          </a:p>
        </p:txBody>
      </p:sp>
      <p:sp>
        <p:nvSpPr>
          <p:cNvPr id="77" name="Google Shape;77;p3"/>
          <p:cNvSpPr txBox="1">
            <a:spLocks noGrp="1"/>
          </p:cNvSpPr>
          <p:nvPr>
            <p:ph type="body" idx="1"/>
          </p:nvPr>
        </p:nvSpPr>
        <p:spPr>
          <a:xfrm>
            <a:off x="311700" y="1147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A structured approach to planning a data mining project</a:t>
            </a:r>
            <a:endParaRPr/>
          </a:p>
        </p:txBody>
      </p:sp>
      <p:pic>
        <p:nvPicPr>
          <p:cNvPr id="78" name="Google Shape;7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96050" y="2743200"/>
            <a:ext cx="2647950" cy="2400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9" name="Google Shape;79;p3"/>
          <p:cNvGraphicFramePr/>
          <p:nvPr/>
        </p:nvGraphicFramePr>
        <p:xfrm>
          <a:off x="282250" y="1438725"/>
          <a:ext cx="7239000" cy="3534444"/>
        </p:xfrm>
        <a:graphic>
          <a:graphicData uri="http://schemas.openxmlformats.org/drawingml/2006/table">
            <a:tbl>
              <a:tblPr>
                <a:noFill/>
                <a:tableStyleId>{29CABD2B-2609-4350-AB3E-B51E3FE340C1}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457200" marR="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nsolas"/>
                        <a:buChar char="❖"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Business understanding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914400" marR="0" lvl="1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nsolas"/>
                        <a:buChar char="➢"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Objectives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914400" marR="0" lvl="1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nsolas"/>
                        <a:buChar char="➢"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Selection of tools and techniques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914400" marR="0" lvl="1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nsolas"/>
                        <a:buChar char="➢"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Evaluation Criteria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457200" marR="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nsolas"/>
                        <a:buChar char="❖"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 understanding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914400" marR="0" lvl="1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nsolas"/>
                        <a:buChar char="➢"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Identify and describe required data sets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914400" marR="0" lvl="1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nsolas"/>
                        <a:buChar char="➢"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Explore and visualize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914400" marR="0" lvl="1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nsolas"/>
                        <a:buChar char="➢"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Verify quality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914400" marR="0" lvl="1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nsolas"/>
                        <a:buChar char="➢"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Address quality issues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457200" marR="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nsolas"/>
                        <a:buChar char="❖"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 preparation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914400" marR="0" lvl="1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nsolas"/>
                        <a:buChar char="➢"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 most relevant sources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914400" marR="0" lvl="1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nsolas"/>
                        <a:buChar char="➢"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Clean data sets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914400" marR="0" lvl="1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nsolas"/>
                        <a:buChar char="➢"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Transform data sets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914400" marR="0" lvl="1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nsolas"/>
                        <a:buChar char="➢"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Integrate sources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nsolas"/>
                        <a:buChar char="❖"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Modeling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914400" marR="0" lvl="1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nsolas"/>
                        <a:buChar char="➢"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 appropriate data analytics / learning model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914400" marR="0" lvl="1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nsolas"/>
                        <a:buChar char="➢"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Generate test plan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914400" marR="0" lvl="1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nsolas"/>
                        <a:buChar char="➢"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Build and assess model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457200" marR="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nsolas"/>
                        <a:buChar char="❖"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Evaluation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914400" marR="0" lvl="1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nsolas"/>
                        <a:buChar char="➢"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Evaluate results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914400" marR="0" lvl="1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nsolas"/>
                        <a:buChar char="➢"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Review process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457200" marR="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nsolas"/>
                        <a:buChar char="❖"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Deployment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914400" marR="0" lvl="1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nsolas"/>
                        <a:buChar char="➢"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Deployment Plan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914400" marR="0" lvl="1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nsolas"/>
                        <a:buChar char="➢"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Monitor and Upgrade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0" name="Google Shape;80;p3"/>
          <p:cNvSpPr txBox="1"/>
          <p:nvPr/>
        </p:nvSpPr>
        <p:spPr>
          <a:xfrm>
            <a:off x="1061200" y="4961720"/>
            <a:ext cx="30498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*Cross-industry standard process for data mining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Chapman, Pete, et al. "CRISP-DM 1.0 Step-by-step data mining guide." (2000).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❖"/>
            </a:pPr>
            <a:r>
              <a:rPr lang="en" sz="1200"/>
              <a:t>Stage 1: Ask A Question </a:t>
            </a:r>
            <a:endParaRPr sz="1200"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➢"/>
            </a:pPr>
            <a:r>
              <a:rPr lang="en" sz="1200"/>
              <a:t>Skills: science, domain expertise, curiosity </a:t>
            </a:r>
            <a:endParaRPr sz="1200"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➢"/>
            </a:pPr>
            <a:r>
              <a:rPr lang="en" sz="1200"/>
              <a:t>Tools: your brain, talking to experts, experience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❖"/>
            </a:pPr>
            <a:r>
              <a:rPr lang="en" sz="1200"/>
              <a:t>Stage 2: Get the Data</a:t>
            </a:r>
            <a:endParaRPr sz="1200"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➢"/>
            </a:pPr>
            <a:r>
              <a:rPr lang="en" sz="1200"/>
              <a:t>Skills: web scraping, data cleaning, querying databases, CS stuff</a:t>
            </a:r>
            <a:endParaRPr sz="1200"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➢"/>
            </a:pPr>
            <a:r>
              <a:rPr lang="en" sz="1200"/>
              <a:t>Tools: python, pandas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❖"/>
            </a:pPr>
            <a:r>
              <a:rPr lang="en" sz="1200"/>
              <a:t>Stage 3: Explore the Data</a:t>
            </a:r>
            <a:endParaRPr sz="1200"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➢"/>
            </a:pPr>
            <a:r>
              <a:rPr lang="en" sz="1200"/>
              <a:t>Skills: Get to know data, develop hypotheses, patterns? Anomalies?</a:t>
            </a:r>
            <a:endParaRPr sz="1200"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➢"/>
            </a:pPr>
            <a:r>
              <a:rPr lang="en" sz="1200"/>
              <a:t>Tools: matplotlib, numpy, scipy, pandas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❖"/>
            </a:pPr>
            <a:r>
              <a:rPr lang="en" sz="1200"/>
              <a:t>Stage 4: Model the Data</a:t>
            </a:r>
            <a:endParaRPr sz="1200"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➢"/>
            </a:pPr>
            <a:r>
              <a:rPr lang="en" sz="1200"/>
              <a:t>Skills: regression, machine learning, validation, big data</a:t>
            </a:r>
            <a:endParaRPr sz="1200"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➢"/>
            </a:pPr>
            <a:r>
              <a:rPr lang="en" sz="1200"/>
              <a:t>Tools: scikit learn, pandas, mrjob, mapreduce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❖"/>
            </a:pPr>
            <a:r>
              <a:rPr lang="en" sz="1200"/>
              <a:t>Stage 5: Communicate the Data</a:t>
            </a:r>
            <a:endParaRPr sz="1200"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➢"/>
            </a:pPr>
            <a:r>
              <a:rPr lang="en" sz="1200"/>
              <a:t>Skills: presentation, speaking, visuals, writing</a:t>
            </a:r>
            <a:endParaRPr sz="1200"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➢"/>
            </a:pPr>
            <a:r>
              <a:rPr lang="en" sz="1200"/>
              <a:t>Tools: matplotlib, adobe illustrator, powerpoint/keynote</a:t>
            </a:r>
            <a:endParaRPr sz="1200"/>
          </a:p>
        </p:txBody>
      </p:sp>
      <p:pic>
        <p:nvPicPr>
          <p:cNvPr id="86" name="Google Shape;8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40850" y="0"/>
            <a:ext cx="2203150" cy="27638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Data Science Process (1/5)</a:t>
            </a:r>
            <a:endParaRPr/>
          </a:p>
        </p:txBody>
      </p:sp>
      <p:sp>
        <p:nvSpPr>
          <p:cNvPr id="88" name="Google Shape;88;p4"/>
          <p:cNvSpPr txBox="1"/>
          <p:nvPr/>
        </p:nvSpPr>
        <p:spPr>
          <a:xfrm>
            <a:off x="1075525" y="5024375"/>
            <a:ext cx="3274500" cy="1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https://www.kdnuggets.com/2016/03/data-science-process-rediscovered.html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6250" y="956050"/>
            <a:ext cx="2451776" cy="374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89995" y="1191029"/>
            <a:ext cx="5890855" cy="132321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Data Science Process (2/5)</a:t>
            </a:r>
            <a:endParaRPr/>
          </a:p>
        </p:txBody>
      </p:sp>
      <p:sp>
        <p:nvSpPr>
          <p:cNvPr id="96" name="Google Shape;96;p6"/>
          <p:cNvSpPr txBox="1"/>
          <p:nvPr/>
        </p:nvSpPr>
        <p:spPr>
          <a:xfrm>
            <a:off x="1075550" y="5031375"/>
            <a:ext cx="6849900" cy="1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Borenstein, Jason, and Ronald C. Arkin. "Nudging for good: robots and the ethical appropriateness of nurturing empathy and charitable behavior." AI &amp; SOCIETY 32.4 (2017): 499-507.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eaf905e7ec_2_0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Data Science Process (3/5)</a:t>
            </a:r>
            <a:endParaRPr/>
          </a:p>
        </p:txBody>
      </p:sp>
      <p:pic>
        <p:nvPicPr>
          <p:cNvPr id="102" name="Google Shape;102;geaf905e7ec_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95833"/>
            <a:ext cx="9144001" cy="2351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09513" y="1066176"/>
            <a:ext cx="4324974" cy="387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7"/>
          <p:cNvSpPr txBox="1"/>
          <p:nvPr/>
        </p:nvSpPr>
        <p:spPr>
          <a:xfrm>
            <a:off x="1076325" y="5038400"/>
            <a:ext cx="7865400" cy="1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https://intelligent-information.blog/en/blog/2018/02/22/garbage-in-garbage-out-intelligent-information-3-conditions/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Data Science Process (4/5)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Data Science Process (5/5)</a:t>
            </a:r>
            <a:endParaRPr/>
          </a:p>
        </p:txBody>
      </p:sp>
      <p:pic>
        <p:nvPicPr>
          <p:cNvPr id="115" name="Google Shape;115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125" y="1137223"/>
            <a:ext cx="7595750" cy="32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8"/>
          <p:cNvSpPr txBox="1"/>
          <p:nvPr/>
        </p:nvSpPr>
        <p:spPr>
          <a:xfrm>
            <a:off x="1080325" y="5024375"/>
            <a:ext cx="6410100" cy="1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https://www.forbes.com/sites/gilpress/2016/03/23/data-preparation-most-time-consuming-least-enjoyable-data-science-task-survey-says/#51249c146f63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Why Python</a:t>
            </a:r>
            <a:endParaRPr/>
          </a:p>
        </p:txBody>
      </p:sp>
      <p:sp>
        <p:nvSpPr>
          <p:cNvPr id="122" name="Google Shape;122;p9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Interpreted Language for rapid prototyping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One of the most important languages for data science, machine learning and general software development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Ease of integrating with C, C++ and FORTRAN code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Allows utilization of low level system code and drivers</a:t>
            </a:r>
            <a:endParaRPr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nsolas"/>
              <a:buChar char="❖"/>
            </a:pPr>
            <a:r>
              <a:rPr lang="en"/>
              <a:t>Availability of large ecosystem of addons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Essential Python Libraries (1/2)</a:t>
            </a:r>
            <a:endParaRPr/>
          </a:p>
        </p:txBody>
      </p:sp>
      <p:sp>
        <p:nvSpPr>
          <p:cNvPr id="128" name="Google Shape;128;p10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NumPy (Numerical Python)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Cornerstone of numerical computing in Python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Fast array processing capabilities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Pandas (panel data)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Designed to work with structured or tabular data in fast, easy and expressive manner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Provides high-level data structures and functions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Provides integration and interoperability with NumPy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Essential Python Libraries (2/2)</a:t>
            </a:r>
            <a:endParaRPr/>
          </a:p>
        </p:txBody>
      </p:sp>
      <p:sp>
        <p:nvSpPr>
          <p:cNvPr id="134" name="Google Shape;134;p1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Matplotlib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Producing plots and other two dimensional data visualization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Seaborn: extension on matplotlib to provide high-level interface for drawing attractive and informative statistical graphics.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Scikit-learn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Premier general-purpose machine learning toolkit for python programmers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OpenAI Project, Tensorflow, PyTorch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Python Installation</a:t>
            </a:r>
            <a:endParaRPr/>
          </a:p>
        </p:txBody>
      </p:sp>
      <p:sp>
        <p:nvSpPr>
          <p:cNvPr id="140" name="Google Shape;140;p12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</a:pPr>
            <a:r>
              <a:rPr lang="en" dirty="0">
                <a:solidFill>
                  <a:schemeClr val="dk1"/>
                </a:solidFill>
              </a:rPr>
              <a:t>Install from </a:t>
            </a:r>
            <a:r>
              <a:rPr lang="en" u="sng" dirty="0">
                <a:solidFill>
                  <a:schemeClr val="hlink"/>
                </a:solidFill>
                <a:hlinkClick r:id="rId3"/>
              </a:rPr>
              <a:t>https://www.python.org/</a:t>
            </a:r>
            <a:endParaRPr dirty="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">
                <a:solidFill>
                  <a:schemeClr val="dk1"/>
                </a:solidFill>
              </a:rPr>
              <a:t>Version 3.11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</a:pPr>
            <a:r>
              <a:rPr lang="en" dirty="0"/>
              <a:t>Ensure</a:t>
            </a:r>
            <a:r>
              <a:rPr lang="en" dirty="0">
                <a:solidFill>
                  <a:schemeClr val="dk1"/>
                </a:solidFill>
              </a:rPr>
              <a:t> pip3 is installed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Python Basics</a:t>
            </a:r>
            <a:endParaRPr/>
          </a:p>
        </p:txBody>
      </p:sp>
      <p:sp>
        <p:nvSpPr>
          <p:cNvPr id="146" name="Google Shape;146;p13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 dirty="0"/>
              <a:t>Python Interpreter</a:t>
            </a:r>
            <a:endParaRPr dirty="0"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dirty="0"/>
              <a:t>Executes one statement at a time</a:t>
            </a:r>
            <a:endParaRPr dirty="0"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dirty="0"/>
              <a:t>Standard interpreter shell can be invoked by using the </a:t>
            </a:r>
            <a:r>
              <a:rPr lang="en" i="1" dirty="0">
                <a:solidFill>
                  <a:srgbClr val="6AA84F"/>
                </a:solidFill>
              </a:rPr>
              <a:t>python</a:t>
            </a:r>
            <a:r>
              <a:rPr lang="en" dirty="0">
                <a:solidFill>
                  <a:srgbClr val="93C47D"/>
                </a:solidFill>
              </a:rPr>
              <a:t> </a:t>
            </a:r>
            <a:r>
              <a:rPr lang="en" dirty="0"/>
              <a:t>invoked on your terminal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nsolas"/>
              <a:buChar char="❖"/>
            </a:pPr>
            <a:r>
              <a:rPr lang="en" dirty="0"/>
              <a:t>In order to exit, </a:t>
            </a:r>
            <a:r>
              <a:rPr lang="en" i="1" dirty="0">
                <a:solidFill>
                  <a:srgbClr val="6AA84F"/>
                </a:solidFill>
              </a:rPr>
              <a:t>exit()</a:t>
            </a:r>
            <a:r>
              <a:rPr lang="en" dirty="0"/>
              <a:t> is invoked in the python interpreter shell</a:t>
            </a:r>
            <a:endParaRPr dirty="0">
              <a:solidFill>
                <a:srgbClr val="6AA8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84C146-9C30-3A34-EDF3-05068C22C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52211"/>
            <a:ext cx="7772400" cy="15446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Python Basics</a:t>
            </a:r>
            <a:endParaRPr/>
          </a:p>
        </p:txBody>
      </p:sp>
      <p:sp>
        <p:nvSpPr>
          <p:cNvPr id="154" name="Google Shape;154;p1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Python script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copy following into text editor and save as </a:t>
            </a:r>
            <a:r>
              <a:rPr lang="en" b="1" i="1"/>
              <a:t>hello.py</a:t>
            </a:r>
            <a:endParaRPr b="1" i="1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run as </a:t>
            </a:r>
            <a:r>
              <a:rPr lang="en" i="1">
                <a:solidFill>
                  <a:srgbClr val="6AA84F"/>
                </a:solidFill>
              </a:rPr>
              <a:t>python hello.py</a:t>
            </a:r>
            <a:endParaRPr>
              <a:solidFill>
                <a:srgbClr val="6AA84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run as </a:t>
            </a:r>
            <a:r>
              <a:rPr lang="en" i="1">
                <a:solidFill>
                  <a:srgbClr val="6AA84F"/>
                </a:solidFill>
              </a:rPr>
              <a:t>python hello.py new</a:t>
            </a:r>
            <a:endParaRPr>
              <a:solidFill>
                <a:srgbClr val="6AA84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run as </a:t>
            </a:r>
            <a:r>
              <a:rPr lang="en" i="1">
                <a:solidFill>
                  <a:srgbClr val="6AA84F"/>
                </a:solidFill>
              </a:rPr>
              <a:t>python hello.py new world</a:t>
            </a:r>
            <a:endParaRPr>
              <a:solidFill>
                <a:srgbClr val="6AA84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run as </a:t>
            </a:r>
            <a:r>
              <a:rPr lang="en" i="1">
                <a:solidFill>
                  <a:srgbClr val="6AA84F"/>
                </a:solidFill>
              </a:rPr>
              <a:t>python hello.py new world 123</a:t>
            </a:r>
            <a:endParaRPr i="1">
              <a:solidFill>
                <a:srgbClr val="6AA8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/>
          </a:p>
        </p:txBody>
      </p:sp>
      <p:sp>
        <p:nvSpPr>
          <p:cNvPr id="155" name="Google Shape;155;p14"/>
          <p:cNvSpPr txBox="1"/>
          <p:nvPr/>
        </p:nvSpPr>
        <p:spPr>
          <a:xfrm>
            <a:off x="915675" y="1934475"/>
            <a:ext cx="2613900" cy="1794000"/>
          </a:xfrm>
          <a:prstGeom prst="rect">
            <a:avLst/>
          </a:prstGeom>
          <a:noFill/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#!/usr/bin/python</a:t>
            </a:r>
            <a:br>
              <a:rPr lang="en" sz="800" b="0" i="0" u="none" strike="noStrike" cap="non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800" b="0" i="0" u="none" strike="noStrike" cap="none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" sz="800" b="0" i="0" u="none" strike="noStrike" cap="non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sys</a:t>
            </a:r>
            <a:br>
              <a:rPr lang="en" sz="800" b="0" i="0" u="none" strike="noStrike" cap="non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800" b="0" i="0" u="none" strike="noStrike" cap="non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filename</a:t>
            </a:r>
            <a:r>
              <a:rPr lang="en" sz="800" b="0" i="0" u="none" strike="noStrike" cap="none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sz="800" b="0" i="0" u="none" strike="noStrike" cap="non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sys</a:t>
            </a:r>
            <a:r>
              <a:rPr lang="en" sz="800" b="0" i="0" u="none" strike="noStrike" cap="none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" sz="800" b="0" i="0" u="none" strike="noStrike" cap="non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argv</a:t>
            </a:r>
            <a:r>
              <a:rPr lang="en" sz="800" b="0" i="0" u="none" strike="noStrike" cap="none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en" sz="800" b="0" i="0" u="none" strike="noStrike" cap="non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 sz="800" b="0" i="0" u="none" strike="noStrike" cap="none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]</a:t>
            </a:r>
            <a:br>
              <a:rPr lang="en" sz="800" b="0" i="0" u="none" strike="noStrike" cap="non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800" b="0" i="0" u="none" strike="noStrike" cap="non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args </a:t>
            </a:r>
            <a:r>
              <a:rPr lang="en" sz="800" b="0" i="0" u="none" strike="noStrike" cap="none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sz="800" b="0" i="0" u="none" strike="noStrike" cap="non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sys</a:t>
            </a:r>
            <a:r>
              <a:rPr lang="en" sz="800" b="0" i="0" u="none" strike="noStrike" cap="none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" sz="800" b="0" i="0" u="none" strike="noStrike" cap="non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argv</a:t>
            </a:r>
            <a:r>
              <a:rPr lang="en" sz="800" b="0" i="0" u="none" strike="noStrike" cap="none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en" sz="800" b="0" i="0" u="none" strike="noStrike" cap="non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" sz="800" b="0" i="0" u="none" strike="noStrike" cap="none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:]</a:t>
            </a:r>
            <a:br>
              <a:rPr lang="en" sz="800" b="0" i="0" u="none" strike="noStrike" cap="non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800" b="0" i="0" u="none" strike="noStrike" cap="none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" sz="800" b="0" i="0" u="none" strike="noStrike" cap="non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len</a:t>
            </a:r>
            <a:r>
              <a:rPr lang="en" sz="800" b="0" i="0" u="none" strike="noStrike" cap="none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800" b="0" i="0" u="none" strike="noStrike" cap="non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args</a:t>
            </a:r>
            <a:r>
              <a:rPr lang="en" sz="800" b="0" i="0" u="none" strike="noStrike" cap="none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800" b="0" i="0" u="none" strike="noStrike" cap="non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 b="0" i="0" u="none" strike="noStrike" cap="none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==</a:t>
            </a:r>
            <a:r>
              <a:rPr lang="en" sz="800" b="0" i="0" u="none" strike="noStrike" cap="non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 b="0" i="0" u="none" strike="noStrike" cap="non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 sz="800" b="0" i="0" u="none" strike="noStrike" cap="none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br>
              <a:rPr lang="en" sz="800" b="0" i="0" u="none" strike="noStrike" cap="non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800" b="0" i="0" u="none" strike="noStrike" cap="non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args </a:t>
            </a:r>
            <a:r>
              <a:rPr lang="en" sz="800" b="0" i="0" u="none" strike="noStrike" cap="none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sz="800" b="0" i="0" u="none" strike="noStrike" cap="non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 b="0" i="0" u="none" strike="noStrike" cap="none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en" sz="800" b="0" i="0" u="none" strike="noStrike" cap="none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'hello,'</a:t>
            </a:r>
            <a:r>
              <a:rPr lang="en" sz="800" b="0" i="0" u="none" strike="noStrike" cap="none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n" sz="800" b="0" i="0" u="none" strike="noStrike" cap="non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 b="0" i="0" u="none" strike="noStrike" cap="none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'world!'</a:t>
            </a:r>
            <a:r>
              <a:rPr lang="en" sz="800" b="0" i="0" u="none" strike="noStrike" cap="none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]</a:t>
            </a:r>
            <a:br>
              <a:rPr lang="en" sz="800" b="0" i="0" u="none" strike="noStrike" cap="non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800" b="0" i="0" u="none" strike="noStrike" cap="none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elif</a:t>
            </a:r>
            <a:r>
              <a:rPr lang="en" sz="800" b="0" i="0" u="none" strike="noStrike" cap="non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len</a:t>
            </a:r>
            <a:r>
              <a:rPr lang="en" sz="800" b="0" i="0" u="none" strike="noStrike" cap="none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800" b="0" i="0" u="none" strike="noStrike" cap="non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args</a:t>
            </a:r>
            <a:r>
              <a:rPr lang="en" sz="800" b="0" i="0" u="none" strike="noStrike" cap="none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800" b="0" i="0" u="none" strike="noStrike" cap="non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 b="0" i="0" u="none" strike="noStrike" cap="none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==</a:t>
            </a:r>
            <a:r>
              <a:rPr lang="en" sz="800" b="0" i="0" u="none" strike="noStrike" cap="non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 b="0" i="0" u="none" strike="noStrike" cap="non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" sz="800" b="0" i="0" u="none" strike="noStrike" cap="none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br>
              <a:rPr lang="en" sz="800" b="0" i="0" u="none" strike="noStrike" cap="non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800" b="0" i="0" u="none" strike="noStrike" cap="non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args</a:t>
            </a:r>
            <a:r>
              <a:rPr lang="en" sz="800" b="0" i="0" u="none" strike="noStrike" cap="none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" sz="800" b="0" i="0" u="none" strike="noStrike" cap="non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append</a:t>
            </a:r>
            <a:r>
              <a:rPr lang="en" sz="800" b="0" i="0" u="none" strike="noStrike" cap="none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800" b="0" i="0" u="none" strike="noStrike" cap="none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'world!'</a:t>
            </a:r>
            <a:r>
              <a:rPr lang="en" sz="800" b="0" i="0" u="none" strike="noStrike" cap="none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lang="en" sz="800" b="0" i="0" u="none" strike="noStrike" cap="non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800" b="0" i="0" u="none" strike="noStrike" cap="none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print(</a:t>
            </a:r>
            <a:r>
              <a:rPr lang="en" sz="800" b="0" i="0" u="none" strike="noStrike" cap="non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args</a:t>
            </a:r>
            <a:r>
              <a:rPr lang="en" sz="800" b="0" i="0" u="none" strike="noStrike" cap="none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en" sz="800" b="0" i="0" u="none" strike="noStrike" cap="non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 sz="800" b="0" i="0" u="none" strike="noStrike" cap="none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],</a:t>
            </a:r>
            <a:r>
              <a:rPr lang="en" sz="800" b="0" i="0" u="none" strike="noStrike" cap="non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args</a:t>
            </a:r>
            <a:r>
              <a:rPr lang="en" sz="800" b="0" i="0" u="none" strike="noStrike" cap="none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en" sz="800" b="0" i="0" u="none" strike="noStrike" cap="non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" sz="800" b="0" i="0" u="none" strike="noStrike" cap="none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])</a:t>
            </a:r>
            <a:endParaRPr sz="800" b="0" i="0" u="none" strike="noStrike" cap="none">
              <a:solidFill>
                <a:srgbClr val="3F51B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eaf905e7ec_2_10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 Studio Code (VSCode)</a:t>
            </a:r>
            <a:endParaRPr/>
          </a:p>
        </p:txBody>
      </p:sp>
      <p:sp>
        <p:nvSpPr>
          <p:cNvPr id="161" name="Google Shape;161;geaf905e7ec_2_10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Default IDE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Install from </a:t>
            </a:r>
            <a:r>
              <a:rPr lang="en" u="sng" dirty="0">
                <a:solidFill>
                  <a:schemeClr val="hlink"/>
                </a:solidFill>
                <a:hlinkClick r:id="rId3"/>
              </a:rPr>
              <a:t>https://code.visualstudio.com/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Version 1.59+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Integrated Python Development Environment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With </a:t>
            </a:r>
            <a:r>
              <a:rPr lang="en" dirty="0" err="1"/>
              <a:t>Jupyter</a:t>
            </a:r>
            <a:r>
              <a:rPr lang="en" dirty="0"/>
              <a:t> Notebook Extension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VSCode Jupyter Notebook Extension (1/8)</a:t>
            </a:r>
            <a:endParaRPr/>
          </a:p>
        </p:txBody>
      </p:sp>
      <p:sp>
        <p:nvSpPr>
          <p:cNvPr id="167" name="Google Shape;167;p19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❖"/>
            </a:pPr>
            <a:r>
              <a:rPr lang="en" sz="1600" dirty="0"/>
              <a:t>Install </a:t>
            </a:r>
            <a:r>
              <a:rPr lang="en" sz="1600" dirty="0" err="1"/>
              <a:t>Jupyter</a:t>
            </a:r>
            <a:r>
              <a:rPr lang="en" sz="1600" dirty="0"/>
              <a:t> package for Python </a:t>
            </a:r>
            <a:endParaRPr sz="1600" dirty="0"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 dirty="0"/>
              <a:t>Execute in your terminal, shell or bash: </a:t>
            </a:r>
            <a:r>
              <a:rPr lang="en" sz="1200" dirty="0">
                <a:solidFill>
                  <a:srgbClr val="93C47D"/>
                </a:solidFill>
              </a:rPr>
              <a:t>pip install </a:t>
            </a:r>
            <a:r>
              <a:rPr lang="en" sz="1200" dirty="0" err="1">
                <a:solidFill>
                  <a:srgbClr val="93C47D"/>
                </a:solidFill>
              </a:rPr>
              <a:t>jupyter</a:t>
            </a:r>
            <a:endParaRPr sz="1200" dirty="0">
              <a:solidFill>
                <a:srgbClr val="93C47D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❖"/>
            </a:pPr>
            <a:r>
              <a:rPr lang="en" sz="1600" dirty="0"/>
              <a:t>Install </a:t>
            </a:r>
            <a:r>
              <a:rPr lang="en" sz="1600" dirty="0" err="1"/>
              <a:t>Jupyter</a:t>
            </a:r>
            <a:r>
              <a:rPr lang="en" sz="1600" dirty="0"/>
              <a:t> Notebook Extension from Microsoft for </a:t>
            </a:r>
            <a:r>
              <a:rPr lang="en" sz="1600" dirty="0" err="1"/>
              <a:t>VSCode</a:t>
            </a:r>
            <a:endParaRPr sz="1600" dirty="0"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 dirty="0"/>
              <a:t>Click View-&gt;Extensions and search for: </a:t>
            </a:r>
            <a:r>
              <a:rPr lang="en" sz="1200" dirty="0">
                <a:solidFill>
                  <a:srgbClr val="93C47D"/>
                </a:solidFill>
              </a:rPr>
              <a:t>@</a:t>
            </a:r>
            <a:r>
              <a:rPr lang="en" sz="1200" dirty="0" err="1">
                <a:solidFill>
                  <a:srgbClr val="93C47D"/>
                </a:solidFill>
              </a:rPr>
              <a:t>id:ms-toolsai.jupyter</a:t>
            </a:r>
            <a:endParaRPr sz="1200" dirty="0">
              <a:solidFill>
                <a:srgbClr val="93C47D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❖"/>
            </a:pPr>
            <a:r>
              <a:rPr lang="en" sz="1600" dirty="0"/>
              <a:t>Create a new file with </a:t>
            </a:r>
            <a:r>
              <a:rPr lang="en" sz="1600" dirty="0">
                <a:solidFill>
                  <a:srgbClr val="93C47D"/>
                </a:solidFill>
              </a:rPr>
              <a:t>.</a:t>
            </a:r>
            <a:r>
              <a:rPr lang="en" sz="1600" dirty="0" err="1">
                <a:solidFill>
                  <a:srgbClr val="93C47D"/>
                </a:solidFill>
              </a:rPr>
              <a:t>ipynb</a:t>
            </a:r>
            <a:r>
              <a:rPr lang="en" sz="1600" dirty="0">
                <a:solidFill>
                  <a:srgbClr val="93C47D"/>
                </a:solidFill>
              </a:rPr>
              <a:t> </a:t>
            </a:r>
            <a:r>
              <a:rPr lang="en" sz="1600" dirty="0"/>
              <a:t>extension (e.g.: </a:t>
            </a:r>
            <a:r>
              <a:rPr lang="en" sz="1600" dirty="0" err="1"/>
              <a:t>start.ipynb</a:t>
            </a:r>
            <a:r>
              <a:rPr lang="en" sz="1600" dirty="0"/>
              <a:t>)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❖"/>
            </a:pPr>
            <a:r>
              <a:rPr lang="en" sz="1600" dirty="0"/>
              <a:t>Open the file in </a:t>
            </a:r>
            <a:r>
              <a:rPr lang="en" sz="1600" dirty="0" err="1"/>
              <a:t>VSCode</a:t>
            </a:r>
            <a:r>
              <a:rPr lang="en" sz="1600" dirty="0"/>
              <a:t> using the </a:t>
            </a:r>
            <a:r>
              <a:rPr lang="en" sz="1600" dirty="0" err="1"/>
              <a:t>Jupyter</a:t>
            </a:r>
            <a:r>
              <a:rPr lang="en" sz="1600" dirty="0"/>
              <a:t> Notebook extension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❖"/>
            </a:pPr>
            <a:r>
              <a:rPr lang="en" sz="1600" dirty="0"/>
              <a:t>Setup the python 3.11.* as the default python interpreter in </a:t>
            </a:r>
            <a:r>
              <a:rPr lang="en" sz="1600" dirty="0" err="1"/>
              <a:t>VSCode</a:t>
            </a:r>
            <a:endParaRPr sz="1600" dirty="0"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 dirty="0"/>
              <a:t>Click View-&gt;Command Palette and execute the statement: </a:t>
            </a:r>
            <a:r>
              <a:rPr lang="en" sz="1200" dirty="0">
                <a:solidFill>
                  <a:srgbClr val="93C47D"/>
                </a:solidFill>
              </a:rPr>
              <a:t>Python: Select Interpreter </a:t>
            </a:r>
            <a:r>
              <a:rPr lang="en" sz="1200" dirty="0"/>
              <a:t>and choose </a:t>
            </a:r>
            <a:r>
              <a:rPr lang="en" sz="1200" dirty="0">
                <a:solidFill>
                  <a:srgbClr val="93C47D"/>
                </a:solidFill>
              </a:rPr>
              <a:t>Python 3.11.* [64/32]-bit</a:t>
            </a:r>
            <a:endParaRPr sz="1200" dirty="0">
              <a:solidFill>
                <a:srgbClr val="93C47D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❖"/>
            </a:pPr>
            <a:r>
              <a:rPr lang="en" sz="1600" dirty="0"/>
              <a:t>Click on the empty cell and enter the following</a:t>
            </a:r>
            <a:endParaRPr sz="1600"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❖"/>
            </a:pPr>
            <a:r>
              <a:rPr lang="en" sz="1600" dirty="0"/>
              <a:t>Click </a:t>
            </a:r>
            <a:r>
              <a:rPr lang="en" sz="1600" i="1" dirty="0">
                <a:solidFill>
                  <a:srgbClr val="6AA84F"/>
                </a:solidFill>
              </a:rPr>
              <a:t>Run</a:t>
            </a:r>
            <a:r>
              <a:rPr lang="en" sz="1600" i="1" dirty="0"/>
              <a:t> </a:t>
            </a:r>
            <a:r>
              <a:rPr lang="en" sz="1600" dirty="0"/>
              <a:t>button</a:t>
            </a:r>
            <a:r>
              <a:rPr lang="en" sz="1600" i="1" dirty="0"/>
              <a:t>    </a:t>
            </a:r>
            <a:r>
              <a:rPr lang="en" sz="1600" dirty="0"/>
              <a:t>to run the cell</a:t>
            </a:r>
            <a:endParaRPr sz="1600" dirty="0"/>
          </a:p>
        </p:txBody>
      </p:sp>
      <p:pic>
        <p:nvPicPr>
          <p:cNvPr id="168" name="Google Shape;16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900" y="3788125"/>
            <a:ext cx="1515425" cy="73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2450" y="4602850"/>
            <a:ext cx="127500" cy="15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VSCode Jupyter Notebook Extension (2/8)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75" name="Google Shape;17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72450" y="1051000"/>
            <a:ext cx="4031100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1079150" y="5016600"/>
            <a:ext cx="34929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https://www.cheatography.com/weidadeyue/cheat-sheets/jupyter-notebook/pdf_bw/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6271725" y="1450550"/>
            <a:ext cx="26559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Keyboard Cheat Sheet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❖"/>
            </a:pPr>
            <a:r>
              <a:rPr lang="en" dirty="0"/>
              <a:t>Tab Completion</a:t>
            </a:r>
            <a:endParaRPr dirty="0"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➢"/>
            </a:pPr>
            <a:r>
              <a:rPr lang="en" dirty="0"/>
              <a:t>File paths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91440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➢"/>
            </a:pPr>
            <a:r>
              <a:rPr lang="en" dirty="0"/>
              <a:t>Function arguments </a:t>
            </a:r>
            <a:endParaRPr dirty="0"/>
          </a:p>
        </p:txBody>
      </p:sp>
      <p:sp>
        <p:nvSpPr>
          <p:cNvPr id="183" name="Google Shape;183;p2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VSCode Jupyter Notebook Extension (3/8)</a:t>
            </a:r>
            <a:endParaRPr/>
          </a:p>
        </p:txBody>
      </p:sp>
      <p:sp>
        <p:nvSpPr>
          <p:cNvPr id="184" name="Google Shape;184;p2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❖"/>
            </a:pPr>
            <a:r>
              <a:rPr lang="en" dirty="0"/>
              <a:t>Tab Completion</a:t>
            </a:r>
            <a:endParaRPr dirty="0"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➢"/>
            </a:pPr>
            <a:r>
              <a:rPr lang="en" dirty="0"/>
              <a:t>Namespace: Object, Function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91440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➢"/>
            </a:pPr>
            <a:r>
              <a:rPr lang="en" dirty="0"/>
              <a:t>Methods and attributes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91440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➢"/>
            </a:pPr>
            <a:r>
              <a:rPr lang="en" dirty="0"/>
              <a:t>Modules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endParaRPr dirty="0"/>
          </a:p>
        </p:txBody>
      </p:sp>
      <p:pic>
        <p:nvPicPr>
          <p:cNvPr id="185" name="Google Shape;185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9050" y="1802524"/>
            <a:ext cx="1678304" cy="47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9050" y="2691874"/>
            <a:ext cx="1846802" cy="472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9050" y="3581225"/>
            <a:ext cx="2984812" cy="50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47500" y="1802525"/>
            <a:ext cx="2984800" cy="239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47494" y="2628450"/>
            <a:ext cx="2817475" cy="83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VSCode Jupyter Notebook Extension (4/8)</a:t>
            </a:r>
            <a:endParaRPr/>
          </a:p>
        </p:txBody>
      </p:sp>
      <p:sp>
        <p:nvSpPr>
          <p:cNvPr id="195" name="Google Shape;195;p22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Introspection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i="1">
                <a:solidFill>
                  <a:srgbClr val="6AA84F"/>
                </a:solidFill>
              </a:rPr>
              <a:t>?</a:t>
            </a:r>
            <a:r>
              <a:rPr lang="en" i="1"/>
              <a:t> after a variable, object or function will display some general information</a:t>
            </a:r>
            <a:endParaRPr i="1"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i="1">
                <a:solidFill>
                  <a:srgbClr val="6AA84F"/>
                </a:solidFill>
              </a:rPr>
              <a:t>??</a:t>
            </a:r>
            <a:r>
              <a:rPr lang="en"/>
              <a:t> will also show the functions source code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i="1">
                <a:solidFill>
                  <a:srgbClr val="6AA84F"/>
                </a:solidFill>
              </a:rPr>
              <a:t>?</a:t>
            </a:r>
            <a:r>
              <a:rPr lang="en"/>
              <a:t> can also be used to search the namespace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i="1"/>
          </a:p>
        </p:txBody>
      </p:sp>
      <p:pic>
        <p:nvPicPr>
          <p:cNvPr id="196" name="Google Shape;19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44863" y="2526088"/>
            <a:ext cx="1857375" cy="1114425"/>
          </a:xfrm>
          <a:prstGeom prst="rect">
            <a:avLst/>
          </a:prstGeom>
          <a:noFill/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VSCode Jupyter Notebook Extension (5/8)</a:t>
            </a:r>
            <a:endParaRPr/>
          </a:p>
        </p:txBody>
      </p:sp>
      <p:sp>
        <p:nvSpPr>
          <p:cNvPr id="202" name="Google Shape;202;p23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Magic commands </a:t>
            </a:r>
            <a:r>
              <a:rPr lang="en" i="1"/>
              <a:t>%</a:t>
            </a:r>
            <a:endParaRPr i="1"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800" i="1">
                <a:solidFill>
                  <a:srgbClr val="6AA84F"/>
                </a:solidFill>
              </a:rPr>
              <a:t>%run</a:t>
            </a:r>
            <a:r>
              <a:rPr lang="en" sz="1800"/>
              <a:t> command: runs a file on local filesystem. 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 sz="1800"/>
          </a:p>
          <a:p>
            <a:pPr marL="914400" lvl="1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➢"/>
            </a:pPr>
            <a:r>
              <a:rPr lang="en" sz="1800" i="1">
                <a:solidFill>
                  <a:srgbClr val="6AA84F"/>
                </a:solidFill>
              </a:rPr>
              <a:t>%load</a:t>
            </a:r>
            <a:r>
              <a:rPr lang="en" sz="1800"/>
              <a:t> command loads a script into a cell from the local filesystem</a:t>
            </a:r>
            <a:endParaRPr sz="1800"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 sz="1800" i="1">
                <a:solidFill>
                  <a:srgbClr val="6AA84F"/>
                </a:solidFill>
              </a:rPr>
              <a:t>%load hello.py</a:t>
            </a:r>
            <a:r>
              <a:rPr lang="en" sz="1800" i="1"/>
              <a:t> </a:t>
            </a:r>
            <a:r>
              <a:rPr lang="en" sz="1800"/>
              <a:t>will result into </a:t>
            </a:r>
            <a:endParaRPr sz="1800"/>
          </a:p>
        </p:txBody>
      </p:sp>
      <p:pic>
        <p:nvPicPr>
          <p:cNvPr id="203" name="Google Shape;20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1625" y="1904275"/>
            <a:ext cx="3358350" cy="37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67525" y="3351600"/>
            <a:ext cx="2514100" cy="1645475"/>
          </a:xfrm>
          <a:prstGeom prst="rect">
            <a:avLst/>
          </a:prstGeom>
          <a:noFill/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VSCode Jupyter Notebook Extension (6/8)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Magic commands %</a:t>
            </a:r>
            <a:endParaRPr i="1">
              <a:solidFill>
                <a:srgbClr val="000000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i="1">
                <a:solidFill>
                  <a:srgbClr val="6AA84F"/>
                </a:solidFill>
              </a:rPr>
              <a:t>%time</a:t>
            </a:r>
            <a:r>
              <a:rPr lang="en"/>
              <a:t> command: measures the execution time by running a statement once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i="1">
                <a:solidFill>
                  <a:srgbClr val="6AA84F"/>
                </a:solidFill>
              </a:rPr>
              <a:t>%timeit</a:t>
            </a:r>
            <a:r>
              <a:rPr lang="en"/>
              <a:t> command: measure the execution time by running a statement multiple times. More precise, but takes longer</a:t>
            </a:r>
            <a:endParaRPr/>
          </a:p>
        </p:txBody>
      </p:sp>
      <p:pic>
        <p:nvPicPr>
          <p:cNvPr id="211" name="Google Shape;21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8605" y="2394408"/>
            <a:ext cx="4534293" cy="2526384"/>
          </a:xfrm>
          <a:prstGeom prst="rect">
            <a:avLst/>
          </a:prstGeom>
          <a:noFill/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VSCode Jupyter Notebook Extension (7/8)</a:t>
            </a:r>
            <a:endParaRPr/>
          </a:p>
        </p:txBody>
      </p:sp>
      <p:sp>
        <p:nvSpPr>
          <p:cNvPr id="217" name="Google Shape;217;p2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Magic commands </a:t>
            </a:r>
            <a:r>
              <a:rPr lang="en" i="1"/>
              <a:t>%</a:t>
            </a:r>
            <a:endParaRPr i="1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Matplotlib integration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i="1">
                <a:solidFill>
                  <a:srgbClr val="6AA84F"/>
                </a:solidFill>
              </a:rPr>
              <a:t>%matplotlib inline</a:t>
            </a:r>
            <a:r>
              <a:rPr lang="en" i="1"/>
              <a:t> </a:t>
            </a:r>
            <a:r>
              <a:rPr lang="en"/>
              <a:t>command configures integration with Jupyter Notebook</a:t>
            </a:r>
            <a:endParaRPr/>
          </a:p>
        </p:txBody>
      </p:sp>
      <p:pic>
        <p:nvPicPr>
          <p:cNvPr id="218" name="Google Shape;218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5025" y="2298825"/>
            <a:ext cx="3865425" cy="2451550"/>
          </a:xfrm>
          <a:prstGeom prst="rect">
            <a:avLst/>
          </a:prstGeom>
          <a:noFill/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VSCode Jupyter Notebook Extension (8/8)</a:t>
            </a:r>
            <a:endParaRPr/>
          </a:p>
        </p:txBody>
      </p:sp>
      <p:pic>
        <p:nvPicPr>
          <p:cNvPr id="224" name="Google Shape;224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170125"/>
            <a:ext cx="8839201" cy="2524355"/>
          </a:xfrm>
          <a:prstGeom prst="rect">
            <a:avLst/>
          </a:prstGeom>
          <a:noFill/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25" name="Google Shape;225;p26"/>
          <p:cNvSpPr txBox="1"/>
          <p:nvPr/>
        </p:nvSpPr>
        <p:spPr>
          <a:xfrm>
            <a:off x="192575" y="3777024"/>
            <a:ext cx="8763000" cy="643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% Magic Commands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1400"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Further read: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ipython.readthedocs.io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/stable/interactive/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magics.html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2b7fce66-bf2d-46b5-b59a-9f0018501bcd}" enabled="1" method="Standard" siteId="{f8a213d2-8f6c-400d-9e74-4e8b475316c6}" removed="0"/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1099</Words>
  <Application>Microsoft Macintosh PowerPoint</Application>
  <PresentationFormat>On-screen Show (16:9)</PresentationFormat>
  <Paragraphs>159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Consolas</vt:lpstr>
      <vt:lpstr>Arial</vt:lpstr>
      <vt:lpstr>Economica</vt:lpstr>
      <vt:lpstr>Roboto Mono</vt:lpstr>
      <vt:lpstr>Open Sans</vt:lpstr>
      <vt:lpstr>Luxe</vt:lpstr>
      <vt:lpstr>Data Science Ecosystem</vt:lpstr>
      <vt:lpstr>What is Data Science</vt:lpstr>
      <vt:lpstr>CRISP-DM* reference model</vt:lpstr>
      <vt:lpstr>Data Science Process (1/5)</vt:lpstr>
      <vt:lpstr>Data Science Process (2/5)</vt:lpstr>
      <vt:lpstr>Data Science Process (3/5)</vt:lpstr>
      <vt:lpstr>Data Science Process (4/5)</vt:lpstr>
      <vt:lpstr>Data Science Process (5/5)</vt:lpstr>
      <vt:lpstr>Why Python</vt:lpstr>
      <vt:lpstr>Essential Python Libraries (1/2)</vt:lpstr>
      <vt:lpstr>Essential Python Libraries (2/2)</vt:lpstr>
      <vt:lpstr>Python Installation</vt:lpstr>
      <vt:lpstr>Python Basics</vt:lpstr>
      <vt:lpstr>Python Basics</vt:lpstr>
      <vt:lpstr>Visual Studio Code (VSCode)</vt:lpstr>
      <vt:lpstr>VSCode Jupyter Notebook Extension (1/8)</vt:lpstr>
      <vt:lpstr>VSCode Jupyter Notebook Extension (2/8) </vt:lpstr>
      <vt:lpstr>VSCode Jupyter Notebook Extension (3/8)</vt:lpstr>
      <vt:lpstr>VSCode Jupyter Notebook Extension (4/8)</vt:lpstr>
      <vt:lpstr>VSCode Jupyter Notebook Extension (5/8)</vt:lpstr>
      <vt:lpstr>VSCode Jupyter Notebook Extension (6/8)</vt:lpstr>
      <vt:lpstr>VSCode Jupyter Notebook Extension (7/8)</vt:lpstr>
      <vt:lpstr>VSCode Jupyter Notebook Extension (8/8)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Ecosystem</dc:title>
  <cp:lastModifiedBy>Antorweep Chakravorty</cp:lastModifiedBy>
  <cp:revision>11</cp:revision>
  <dcterms:modified xsi:type="dcterms:W3CDTF">2024-08-20T12:07:08Z</dcterms:modified>
</cp:coreProperties>
</file>